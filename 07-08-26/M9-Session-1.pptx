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85229" autoAdjust="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trust, not imports: two different pending counts on one admin screen  that is the business case for central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M8 left honest HTTP and forms in place; M9 fixes drift when List and Dashboard both think they own Enrollment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Facilitator: spine says do not open with code  open with Abeba seeing 15 vs 13 pending (trust).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Spine: problem of trust first  then introduce central state as the fix, not the buzzword.</a:t>
            </a:r>
          </a:p>
          <a:p>
            <a:r>
              <a:rPr lang="en-US" dirty="0"/>
              <a:t>The primary goal of this module is solving a classic frontend problem: </a:t>
            </a:r>
            <a:r>
              <a:rPr lang="en-US" b="1" dirty="0"/>
              <a:t>State Drift</a:t>
            </a:r>
            <a:r>
              <a:rPr lang="en-US" dirty="0"/>
              <a:t>.</a:t>
            </a:r>
          </a:p>
          <a:p>
            <a:r>
              <a:rPr lang="en-US" b="1" dirty="0"/>
              <a:t>The Problem (Slide 4)</a:t>
            </a:r>
          </a:p>
          <a:p>
            <a:pPr lvl="0"/>
            <a:r>
              <a:rPr lang="en-US" b="1" dirty="0"/>
              <a:t>State Drift:</a:t>
            </a:r>
            <a:r>
              <a:rPr lang="en-US" dirty="0"/>
              <a:t> Occurs when multiple components on the same screen hold their own isolated copy of data (e.g., in local component signals or variables).</a:t>
            </a:r>
          </a:p>
          <a:p>
            <a:pPr lvl="0"/>
            <a:r>
              <a:rPr lang="en-US" i="1" dirty="0"/>
              <a:t>Real-world Example:</a:t>
            </a:r>
            <a:r>
              <a:rPr lang="en-US" dirty="0"/>
              <a:t> On a dashboard, a sidebar displays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"15 Pending Enrollments"</a:t>
            </a:r>
            <a:r>
              <a:rPr lang="en-US" dirty="0"/>
              <a:t>, but the main data table shows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"13 Pending Enrollments"</a:t>
            </a:r>
            <a:r>
              <a:rPr lang="en-US" dirty="0"/>
              <a:t>. If one HTTP request fails or completes at a different time than another, the UI gets out of sync, leading users to lose trust in the application.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Re-anchor M8: signal() in one component does not broadcast to a sibling  that is the drift root cause.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TypeWhere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LivesWhen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UseExamples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individual components (signal())Simple component-level UI behavior;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authoritative DB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data.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dropdown open? Is a modal visible?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Centralized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singleton store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NgRx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SignalStore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)When multiple components need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and write the same shared data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screen.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list, logged-in user details, enrollment ta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the mermaid from Essentials once  deck keeps the verbal map only.</a:t>
            </a:r>
          </a:p>
          <a:p>
            <a:r>
              <a:rPr lang="en-US" dirty="0" err="1"/>
              <a:t>NgRx</a:t>
            </a:r>
            <a:r>
              <a:rPr lang="en-US" dirty="0"/>
              <a:t> </a:t>
            </a:r>
            <a:r>
              <a:rPr lang="en-US" dirty="0" err="1"/>
              <a:t>SignalStore</a:t>
            </a:r>
            <a:r>
              <a:rPr lang="en-US" dirty="0"/>
              <a:t> organizes global state management using three fundamental building blocks:</a:t>
            </a:r>
          </a:p>
          <a:p>
            <a:pPr lvl="0"/>
            <a:r>
              <a:rPr lang="en-US" b="1" dirty="0"/>
              <a:t>State 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withState</a:t>
            </a:r>
            <a:r>
              <a:rPr lang="en-US" b="1" dirty="0"/>
              <a:t> /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withEntities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Holds the raw, authoritative source-of-truth data (e.g., raw enrollment records,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isLoading</a:t>
            </a:r>
            <a:r>
              <a:rPr lang="en-US" dirty="0"/>
              <a:t> flags,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en-US" dirty="0"/>
              <a:t> messages).</a:t>
            </a:r>
          </a:p>
          <a:p>
            <a:pPr lvl="0"/>
            <a:r>
              <a:rPr lang="en-US" b="1" dirty="0"/>
              <a:t>Computed 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withComputed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Derives dynamic state that automatically recalculates whenever underlying state updates (e.g., calculating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pendingCount</a:t>
            </a:r>
            <a:r>
              <a:rPr lang="en-US" dirty="0"/>
              <a:t> dynamically based on raw enrollment list).</a:t>
            </a:r>
          </a:p>
          <a:p>
            <a:pPr lvl="0"/>
            <a:r>
              <a:rPr lang="en-US" b="1" dirty="0"/>
              <a:t>Methods 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withMethods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Actions and side-effects used to mutate state safely via API streams (e.g.,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rxMethod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patchState</a:t>
            </a:r>
            <a:r>
              <a:rPr lang="en-US" dirty="0"/>
              <a:t>, and entity helpers).</a:t>
            </a:r>
          </a:p>
          <a:p>
            <a:pPr lvl="0"/>
            <a:r>
              <a:rPr lang="en-US" b="1" dirty="0"/>
              <a:t>Trigger Action:</a:t>
            </a:r>
            <a:r>
              <a:rPr lang="en-US" dirty="0"/>
              <a:t> UI components call a store method (defined 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withMethods</a:t>
            </a:r>
            <a:r>
              <a:rPr lang="en-US" dirty="0"/>
              <a:t>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rxMethod</a:t>
            </a:r>
            <a:r>
              <a:rPr lang="en-US" dirty="0"/>
              <a:t>).</a:t>
            </a:r>
          </a:p>
          <a:p>
            <a:pPr lvl="0"/>
            <a:r>
              <a:rPr lang="en-US" b="1" dirty="0"/>
              <a:t>API Interaction &amp; Processing:</a:t>
            </a:r>
            <a:r>
              <a:rPr lang="en-US" dirty="0"/>
              <a:t> The method sends requests to the backend API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TMS .NET API</a:t>
            </a:r>
            <a:r>
              <a:rPr lang="en-US" dirty="0"/>
              <a:t>). Queue handling tools like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concatMap</a:t>
            </a:r>
            <a:r>
              <a:rPr lang="en-US" dirty="0"/>
              <a:t> ensure safe sequential execution of async operations.</a:t>
            </a:r>
          </a:p>
          <a:p>
            <a:pPr lvl="0"/>
            <a:r>
              <a:rPr lang="en-US" b="1" dirty="0"/>
              <a:t>State Mutation:</a:t>
            </a:r>
            <a:r>
              <a:rPr lang="en-US" dirty="0"/>
              <a:t> Upon API response, state is updated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patchState</a:t>
            </a:r>
            <a:r>
              <a:rPr lang="en-US" dirty="0"/>
              <a:t> 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updateEntity</a:t>
            </a:r>
            <a:r>
              <a:rPr lang="en-US" dirty="0"/>
              <a:t> helpers inside the centralized store.</a:t>
            </a:r>
          </a:p>
          <a:p>
            <a:pPr lvl="0"/>
            <a:r>
              <a:rPr lang="en-US" b="1" dirty="0"/>
              <a:t>Computed Reactivity:</a:t>
            </a:r>
            <a:r>
              <a:rPr lang="en-US" dirty="0"/>
              <a:t> Any dynamic metrics defined 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withComputed</a:t>
            </a:r>
            <a:r>
              <a:rPr lang="en-US" dirty="0"/>
              <a:t> automatically recalculate in real-time.</a:t>
            </a:r>
          </a:p>
          <a:p>
            <a:pPr lvl="0"/>
            <a:r>
              <a:rPr lang="en-US" b="1" dirty="0"/>
              <a:t>UI Synchronization:</a:t>
            </a:r>
            <a:r>
              <a:rPr lang="en-US" dirty="0"/>
              <a:t> Components reading from the store (such as tables, KPI metrics, spinners, and error blocks) automatically receive the updated data simultaneously, ensuring a unified source of truth without drift.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Whiteboard: array scan vs keyed update  one minute CS, then back to TMS approve.</a:t>
            </a:r>
          </a:p>
          <a:p>
            <a:r>
              <a:rPr lang="en-US" dirty="0"/>
              <a:t>When managing large datasets in frontend applications (e.g., 5,000+ enrollment records in an enterprise data grid), modifying a single row with standard arrays forces linear searching:</a:t>
            </a:r>
          </a:p>
          <a:p>
            <a:pPr lvl="0"/>
            <a:r>
              <a:rPr lang="en-US" b="1" dirty="0"/>
              <a:t>Plain Arrays:</a:t>
            </a:r>
            <a:r>
              <a:rPr lang="en-US" dirty="0"/>
              <a:t> Modern browsers must perform an array sweep using methods like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array.findIndex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to locate a row by ID. In large grids, rescanning thousands of items on every click leads to UI freezing or frame drops.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withEntities</a:t>
            </a:r>
            <a:r>
              <a:rPr lang="en-US" b="1" dirty="0"/>
              <a:t> Dictionary Shape: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withEntities</a:t>
            </a:r>
            <a:r>
              <a:rPr lang="en-US" dirty="0"/>
              <a:t> automatically transforms collections into a dictionary structure: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slides fill rxMethod bodies  keep this slide about shape and vocabulary gate from spine.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signalStore</a:t>
            </a:r>
            <a:r>
              <a:rPr lang="en-US" b="1" dirty="0"/>
              <a:t>:</a:t>
            </a:r>
            <a:r>
              <a:rPr lang="en-US" dirty="0"/>
              <a:t> The outer container defining the global service.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withState</a:t>
            </a:r>
            <a:r>
              <a:rPr lang="en-US" b="1" dirty="0"/>
              <a:t>:</a:t>
            </a:r>
            <a:r>
              <a:rPr lang="en-US" dirty="0"/>
              <a:t> Holds scalar UI flags (like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isLoading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en-US" dirty="0"/>
              <a:t>).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withEntities</a:t>
            </a:r>
            <a:r>
              <a:rPr lang="en-US" b="1" dirty="0"/>
              <a:t>:</a:t>
            </a:r>
            <a:r>
              <a:rPr lang="en-US" dirty="0"/>
              <a:t> Configures key-value entity management for domain collections.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withComputed</a:t>
            </a:r>
            <a:r>
              <a:rPr lang="en-US" b="1" dirty="0"/>
              <a:t>:</a:t>
            </a:r>
            <a:r>
              <a:rPr lang="en-US" dirty="0"/>
              <a:t> Exposes read-only signals that reactively recalculate whenever underlying entities update.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mergeMap (parallel) vs concatMap (serial) in one sentence  TMS admin double-click story from M9 intro.
Spine §6 uses "students" as the fetch example; CoTBE decks keep enrollments  same rxMethod + concatMap pattern.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rxMethod</a:t>
            </a:r>
            <a:r>
              <a:rPr lang="en-US" dirty="0"/>
              <a:t> acts as the bridge connecting Angular Signals to </a:t>
            </a:r>
            <a:r>
              <a:rPr lang="en-US" dirty="0" err="1"/>
              <a:t>RxJS</a:t>
            </a:r>
            <a:r>
              <a:rPr lang="en-US" dirty="0"/>
              <a:t> async streams.</a:t>
            </a:r>
          </a:p>
          <a:p>
            <a:r>
              <a:rPr lang="en-US" b="1" dirty="0"/>
              <a:t>Safety &amp; Integrity Mechanisms: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patchState</a:t>
            </a:r>
            <a:r>
              <a:rPr lang="en-US" b="1" dirty="0"/>
              <a:t>:</a:t>
            </a:r>
            <a:r>
              <a:rPr lang="en-US" dirty="0"/>
              <a:t> Enforces immutable and safe updates to store state.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concatMap</a:t>
            </a:r>
            <a:r>
              <a:rPr lang="en-US" b="1" dirty="0"/>
              <a:t>:</a:t>
            </a:r>
            <a:r>
              <a:rPr lang="en-US" dirty="0"/>
              <a:t> Queues overlapping requests sequentially. If a user double-clicks or triggers multiple actions quickly, requests run one at a time, preserving state integrity and avoiding race conditions.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click → green → server 400 → yellow again; remind not every mutation should be optimistic  spine facilitator note.
Spine: high-frequency UIs (social likes, queue-to-watch) use the same optimistic + rollback idea  name one learners already trust.</a:t>
            </a:r>
          </a:p>
          <a:p>
            <a:r>
              <a:rPr lang="en-US" dirty="0"/>
              <a:t>Optimistic updates eliminate perceived latency by updating the UI immediately while the HTTP request is still in flight.</a:t>
            </a:r>
          </a:p>
          <a:p>
            <a:pPr lvl="0"/>
            <a:r>
              <a:rPr lang="en-US" b="1" dirty="0"/>
              <a:t>Optimistic Flip:</a:t>
            </a:r>
            <a:r>
              <a:rPr lang="en-US" dirty="0"/>
              <a:t> Update item status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'Approved'</a:t>
            </a:r>
            <a:r>
              <a:rPr lang="en-US" dirty="0"/>
              <a:t> locally before network completion.</a:t>
            </a:r>
          </a:p>
          <a:p>
            <a:pPr lvl="0"/>
            <a:r>
              <a:rPr lang="en-US" b="1" dirty="0"/>
              <a:t>Server Dispatch:</a:t>
            </a:r>
            <a:r>
              <a:rPr lang="en-US" dirty="0"/>
              <a:t> Send approval call to the backend.</a:t>
            </a:r>
          </a:p>
          <a:p>
            <a:pPr lvl="0"/>
            <a:r>
              <a:rPr lang="en-US" b="1" dirty="0"/>
              <a:t>Rollback Handler:</a:t>
            </a:r>
            <a:r>
              <a:rPr lang="en-US" dirty="0"/>
              <a:t> If the API call fails,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catchError</a:t>
            </a:r>
            <a:r>
              <a:rPr lang="en-US" dirty="0"/>
              <a:t> executes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patchState</a:t>
            </a:r>
            <a:r>
              <a:rPr lang="en-US" dirty="0"/>
              <a:t> to revert the item's status back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'Pending'</a:t>
            </a:r>
            <a:r>
              <a:rPr lang="en-US" dirty="0"/>
              <a:t> and surface an error banner.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row to a concrete TMS symptom  drift, double POST, frozen MatTable scroll.</a:t>
            </a:r>
          </a:p>
          <a:p>
            <a:pPr lvl="0"/>
            <a:r>
              <a:rPr lang="en-US" b="1" dirty="0"/>
              <a:t>Optimistic Flip:</a:t>
            </a:r>
            <a:r>
              <a:rPr lang="en-US" dirty="0"/>
              <a:t> Update item status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'Approved'</a:t>
            </a:r>
            <a:r>
              <a:rPr lang="en-US" dirty="0"/>
              <a:t> locally before network completion.</a:t>
            </a:r>
          </a:p>
          <a:p>
            <a:pPr lvl="0"/>
            <a:r>
              <a:rPr lang="en-US" b="1" dirty="0"/>
              <a:t>Server Dispatch:</a:t>
            </a:r>
            <a:r>
              <a:rPr lang="en-US" dirty="0"/>
              <a:t> Send approval call to the backend.</a:t>
            </a:r>
          </a:p>
          <a:p>
            <a:pPr lvl="0"/>
            <a:r>
              <a:rPr lang="en-US" b="1" dirty="0"/>
              <a:t>Rollback Handler:</a:t>
            </a:r>
            <a:r>
              <a:rPr lang="en-US" dirty="0"/>
              <a:t> If the API call fails,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catchError</a:t>
            </a:r>
            <a:r>
              <a:rPr lang="en-US" dirty="0"/>
              <a:t> executes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patchState</a:t>
            </a:r>
            <a:r>
              <a:rPr lang="en-US" dirty="0"/>
              <a:t> to revert the item's status back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'Pending'</a:t>
            </a:r>
            <a:r>
              <a:rPr lang="en-US" dirty="0"/>
              <a:t> and surface an error banner.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npm install @ngrx/signals before opening Session 2 lazy-loading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Session 1 store makes Session 2 list performance meaningful  same enrollment rows, honest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411480" cy="496062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94360"/>
            <a:ext cx="13258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9436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56692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engineering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(NgRx SignalStore)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one source of truth · withEntities · rxMethod · TMS enrollments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3840480" cy="0"/>
          </a:xfrm>
          <a:prstGeom prst="line">
            <a:avLst/>
          </a:prstGeom>
          <a:noFill/>
          <a:ln w="15875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868680"/>
            <a:ext cx="2468880" cy="3154680"/>
          </a:xfrm>
          <a:prstGeom prst="rect">
            <a:avLst/>
          </a:prstGeom>
          <a:solidFill>
            <a:srgbClr val="0F1A2E"/>
          </a:solidFill>
          <a:ln w="12700">
            <a:solidFill>
              <a:srgbClr val="0EA5E9"/>
            </a:solidFill>
            <a:prstDash val="solid"/>
          </a:ln>
          <a:effectLst>
            <a:outerShdw blurRad="177800" dist="635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9601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TMS command center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56832" y="1207008"/>
            <a:ext cx="2240280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export const EnrollmentStore = signalStore(
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 providedIn: 'root' },
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withState({ isLoading: false, error: null }),
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withEntities&lt;Enrollment&gt;(), …
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M9 · 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screen, one truth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goals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the end of this session, you will: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8778240" cy="34015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24128"/>
            <a:ext cx="82296" cy="3401568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52144"/>
            <a:ext cx="8485632" cy="3145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state drift when two components each keep their own copy of the same TMS data (spine)</a:t>
            </a:r>
            <a:endParaRPr lang="en-US" sz="88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 local UI state from global authoritative collections  when SignalStore wins (spine)</a:t>
            </a:r>
            <a:endParaRPr lang="en-US" sz="88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the three pillars: state, computed, methods  API ↔ store ↔ MatTable / KPIs (spine)</a:t>
            </a:r>
            <a:endParaRPr lang="en-US" sz="88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Contrast flat Enrollment[] with withEntities dictionary shape and O(1) row updates (spine)</a:t>
            </a:r>
            <a:endParaRPr lang="en-US" sz="88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Assemble signalStore + withState + withEntities + withComputed + withMethods (first encounter)</a:t>
            </a:r>
            <a:endParaRPr lang="en-US" sz="88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 rxMethod + concatMap for safe queues; sketch optimistic approve + rollback on failure (spine)</a:t>
            </a:r>
            <a:endParaRPr lang="en-US" sz="88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Session 1 traps: skipping withEntities, mutating arrays, duplicate startup loads (mistakes table)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big picture: state drift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8778240" cy="3337560"/>
          </a:xfrm>
          <a:prstGeom prst="rect">
            <a:avLst/>
          </a:prstGeom>
          <a:solidFill>
            <a:srgbClr val="0F1A2E"/>
          </a:solidFill>
          <a:ln w="12700">
            <a:solidFill>
              <a:srgbClr val="0EA5E9"/>
            </a:solidFill>
            <a:prstDash val="solid"/>
          </a:ln>
          <a:effectLst>
            <a:outerShdw blurRad="177800" dist="635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91440" cy="333756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24712"/>
            <a:ext cx="836676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Imagine Abeba (TMS Admin) on the enrollment dashboard.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sidebar says "15 Pending Enrollments". The main table says "13 Pending Enrollments".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components called GET /api/enrollments  but one call failed, or they ran at slightly different times. Because state lived in two separate local signal() variables, the UI drifted out of sync.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 user sees two different numbers on the same screen, they lose trust in the software.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state vs local state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182880" y="804672"/>
          <a:ext cx="8778240" cy="66675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5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State type</a:t>
                      </a:r>
                      <a:endParaRPr lang="en-US" sz="92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5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Where it lives</a:t>
                      </a:r>
                      <a:endParaRPr lang="en-US" sz="92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5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</a:t>
                      </a:r>
                      <a:endParaRPr lang="en-US" sz="92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Local state</a:t>
                      </a:r>
                      <a:endParaRPr lang="en-US" sz="82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Inside the component (signal())</a:t>
                      </a:r>
                      <a:endParaRPr lang="en-US" sz="82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 this dropdown open?</a:t>
                      </a:r>
                      <a:endParaRPr lang="en-US" sz="82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Global state</a:t>
                      </a:r>
                      <a:endParaRPr lang="en-US" sz="82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Singleton service / store</a:t>
                      </a:r>
                      <a:endParaRPr lang="en-US" sz="82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Student list; logged-in user shape; enrollment rows</a:t>
                      </a:r>
                      <a:endParaRPr lang="en-US" sz="82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2331720"/>
            <a:ext cx="8778240" cy="86868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" y="233172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42316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use NgRx SignalStore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2715768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several components need to read and write the same mutable data on the same screen  not for every toggle (spine).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2880" y="3273552"/>
            <a:ext cx="877824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82880" y="3273552"/>
            <a:ext cx="82296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3401568"/>
            <a:ext cx="8485632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M8 local signals are fine for component UX  not for authoritative copies of DB-backed grids (spine speaker note)</a:t>
            </a:r>
            <a:endParaRPr lang="en-US" sz="9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SignalStore architecture  three pillars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15727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2296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9264"/>
            <a:ext cx="8485632" cy="1316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3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1) State  raw enrollment rows, loading, error flags (spine)</a:t>
            </a:r>
            <a:endParaRPr lang="en-US" sz="93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3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2) Computed  derived signals that recompute when state changes (e.g. pendingCount)</a:t>
            </a:r>
            <a:endParaRPr lang="en-US" sz="93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3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3) Methods  actions that mutate via API streams (rxMethod + patchState / entity helpers)</a:t>
            </a:r>
            <a:endParaRPr lang="en-US" sz="935" dirty="0"/>
          </a:p>
        </p:txBody>
      </p:sp>
      <p:sp>
        <p:nvSpPr>
          <p:cNvPr id="9" name="Shape 7"/>
          <p:cNvSpPr/>
          <p:nvPr/>
        </p:nvSpPr>
        <p:spPr>
          <a:xfrm>
            <a:off x="182880" y="2487168"/>
            <a:ext cx="8778240" cy="217627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2487168"/>
            <a:ext cx="54864" cy="21762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7860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(spine mermaid in prose)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871216"/>
            <a:ext cx="8503920" cy="1673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TMS .NET API ↔ rxMethod (concatMap queue) ↔ patchState / updateEntity ↔ withEntities dictionary ↔ MatTable + dashboard KPIs; withState drives spinners and errors on the same components.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withEntities vs plain arrays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8778240" cy="10241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82296" cy="1024128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32688"/>
            <a:ext cx="8485632" cy="768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1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5,000 enrollments + instructor clicks Approve on one row → array.findIndex() scans every time (spine)</a:t>
            </a:r>
            <a:endParaRPr lang="en-US" sz="91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1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withEntities&lt;Enrollment&gt;() keeps ids[] + entities{}  update by id is O(1) lookup (spine)</a:t>
            </a:r>
            <a:endParaRPr lang="en-US" sz="915" dirty="0"/>
          </a:p>
        </p:txBody>
      </p:sp>
      <p:sp>
        <p:nvSpPr>
          <p:cNvPr id="13" name="Shape 11"/>
          <p:cNvSpPr/>
          <p:nvPr/>
        </p:nvSpPr>
        <p:spPr>
          <a:xfrm>
            <a:off x="182880" y="2450592"/>
            <a:ext cx="8778240" cy="17190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450592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450592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EntityCollection shape (concept)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798064"/>
            <a:ext cx="8503920" cy="1261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Shape stored by withEntities (spine JSON)
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"ids": [101, 102],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"entities":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"101": { "id": 101, "status": "Pending" },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"102": { "id": 102, "status": "Approved"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4224528"/>
            <a:ext cx="87782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4224528"/>
            <a:ext cx="54864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159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608576"/>
            <a:ext cx="8503920" cy="27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vs array sweep  enterprise grids freeze when every click rescans thousands of rows; withEntities is the native fix (spine).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the store  first encounter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8778240" cy="2788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04672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enrollment.store.ts (spine  skeleton)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52144"/>
            <a:ext cx="850392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export const EnrollmentStore = signalStore(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 providedIn: "root" },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withState({ isLoading: false, error: null }),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withEntities&lt;Enrollment&gt;(),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withComputed((store) =&gt; ({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pendingCount: computed(() =&gt;
      store.entities().filter((e) =&gt; e.status === "Pending").length
    ),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})),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withMethods((store, api = inject(EnrollmentService)) =&gt; ({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load: rxMethod&lt;void&gt;(/* pipe … */),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})),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3675888"/>
            <a:ext cx="8778240" cy="8412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3675888"/>
            <a:ext cx="82296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803904"/>
            <a:ext cx="8485632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6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`signalStore`  builds the container</a:t>
            </a:r>
            <a:endParaRPr lang="en-US" sz="86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6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`withState`  loading / error flags (and other custom fields)</a:t>
            </a:r>
            <a:endParaRPr lang="en-US" sz="86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6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`withComputed`  read-only derived signals from entities + state</a:t>
            </a:r>
            <a:endParaRPr lang="en-US" sz="86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rxMethod and safe queuing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8778240" cy="2148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04672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(spine  trimmed)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52144"/>
            <a:ext cx="850392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loadEnrollments: rxMethod&lt;void&gt;(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pipe(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tap(() =&gt; patchState(store, { isLoading: true })),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concatMap(() =&gt; api.getAll().pipe(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tap((rows) =&gt; patchState(store, setAllEntities(rows), { isLoading: false }))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3035808"/>
            <a:ext cx="8778240" cy="1481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3035808"/>
            <a:ext cx="82296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63824"/>
            <a:ext cx="8485632" cy="1225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`patchState`  immutable, supported updates to the store (only safe write path)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`rxMethod`  bridges signals with RxJS streams (HTTP, queues)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`concatMap`  queues overlapping calls so they run one at a time (integrity)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Optimistic updates  rollback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8778240" cy="2423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04672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Optimistic path (spine  error handling trimmed)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52144"/>
            <a:ext cx="850392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approveEnrollment: rxMethod&lt;string&gt;(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pipe(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tap((id) =&gt; {
      patchState(store, updateEntity({ id, changes: { status: 'Approved' } }));
    }),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concatMap((id) =&gt; api.approve(id).pipe(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catchError(() =&gt; {
        patchState(store, updateEntity({ id, changes: { status: 'Pending' } }));
        return EMPTY;
      })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3310128"/>
            <a:ext cx="8778240" cy="12070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3310128"/>
            <a:ext cx="82296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38144"/>
            <a:ext cx="8485632" cy="950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9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Optimistic  UI flips to Approved immediately; server still in flight</a:t>
            </a:r>
            <a:endParaRPr lang="en-US" sz="89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9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Rollback  on failure, patchState restores Pending and surface an error banner</a:t>
            </a:r>
            <a:endParaRPr lang="en-US" sz="89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9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pattern as high-frequency social UIs  hide latency where safe (spine)</a:t>
            </a:r>
            <a:endParaRPr lang="en-US" sz="89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mistakes  Session 1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182880" y="804672"/>
          <a:ext cx="8778240" cy="816864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Mistake</a:t>
                      </a:r>
                      <a:endParaRPr lang="en-US" sz="8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Symptom</a:t>
                      </a:r>
                      <a:endParaRPr lang="en-US" sz="8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</a:t>
                      </a:r>
                      <a:endParaRPr lang="en-US" sz="8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1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Skipping withEntities</a:t>
                      </a:r>
                      <a:endParaRPr lang="en-US" sz="7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1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Poor performance on large grids when updating rows</a:t>
                      </a:r>
                      <a:endParaRPr lang="en-US" sz="7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1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Always use @ngrx/signals/entities for collections</a:t>
                      </a:r>
                      <a:endParaRPr lang="en-US" sz="7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1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Direct array mutation</a:t>
                      </a:r>
                      <a:endParaRPr lang="en-US" sz="7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1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 data disconnected from Angular reactivity; UI does not repaint</a:t>
                      </a:r>
                      <a:endParaRPr lang="en-US" sz="7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1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 patchState to update the store safely</a:t>
                      </a:r>
                      <a:endParaRPr lang="en-US" sz="7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1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Duplicate API calls</a:t>
                      </a:r>
                      <a:endParaRPr lang="en-US" sz="7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1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Component A and B both call .load() explicitly on startup</a:t>
                      </a:r>
                      <a:endParaRPr lang="en-US" sz="7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15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Fetch once at router level, or check if loaded is false before fetching</a:t>
                      </a:r>
                      <a:endParaRPr lang="en-US" sz="715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1 summary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2240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2296" cy="224028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9264"/>
            <a:ext cx="8485632" cy="1984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Drift = multiple local copies of the same enrollment truth</a:t>
            </a:r>
            <a:endParaRPr lang="en-US" sz="98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SignalStore + withEntities = one dictionary-backed source for grids and KPIs</a:t>
            </a:r>
            <a:endParaRPr lang="en-US" sz="98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rxMethod + concatMap + patchState = safe HTTP queues and immutable updates</a:t>
            </a:r>
            <a:endParaRPr lang="en-US" sz="985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85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Optimistic UI + rollback = fast feel when the server usually agrees</a:t>
            </a:r>
            <a:endParaRPr lang="en-US" sz="98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Next: Session 2  Performance and enterprise grids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8288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40280"/>
            <a:ext cx="786384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@defer, bundle discipline, MatTable at TMS scale  less code shipped before first paint.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2170</Words>
  <Application>Microsoft Office PowerPoint</Application>
  <PresentationFormat>On-screen Show (16:9)</PresentationFormat>
  <Paragraphs>186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Session 1: State Engineering (NgRx SignalStore)</dc:title>
  <dc:subject>Angular 22 · NgRx SignalStore · withEntities · rxMethod · concatMap · optimistic updates</dc:subject>
  <dc:creator>CoTBE Advanced Digital Skills Programme</dc:creator>
  <cp:lastModifiedBy>Ruth Matewos</cp:lastModifiedBy>
  <cp:revision>4</cp:revision>
  <dcterms:created xsi:type="dcterms:W3CDTF">2026-07-19T08:37:00Z</dcterms:created>
  <dcterms:modified xsi:type="dcterms:W3CDTF">2026-08-01T07:45:09Z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D6B69D0781F443879D4C86A5E472E4DB_12</vt:lpwstr>
  </property>
  <property fmtid="{D5CDD505-2E9C-101B-9397-08002B2CF9AE}" pid="3" name="KSOProductBuildVer">
    <vt:lpwstr>1033-12.1.0.27458</vt:lpwstr>
  </property>
</Properties>
</file>